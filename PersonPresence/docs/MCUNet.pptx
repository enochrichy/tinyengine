
<file path=[Content_Types].xml><?xml version="1.0" encoding="utf-8"?>
<Types xmlns="http://schemas.openxmlformats.org/package/2006/content-types"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1954" r:id="rId5"/>
    <p:sldId id="1959" r:id="rId6"/>
    <p:sldId id="1960" r:id="rId7"/>
    <p:sldId id="1976" r:id="rId8"/>
    <p:sldId id="1961" r:id="rId9"/>
    <p:sldId id="1962" r:id="rId10"/>
    <p:sldId id="1965" r:id="rId11"/>
    <p:sldId id="1964" r:id="rId12"/>
    <p:sldId id="1966" r:id="rId13"/>
    <p:sldId id="1967" r:id="rId14"/>
    <p:sldId id="1963" r:id="rId15"/>
    <p:sldId id="1968" r:id="rId16"/>
    <p:sldId id="1969" r:id="rId17"/>
    <p:sldId id="1970" r:id="rId18"/>
    <p:sldId id="1972" r:id="rId19"/>
    <p:sldId id="1973" r:id="rId20"/>
    <p:sldId id="1977" r:id="rId21"/>
    <p:sldId id="1974" r:id="rId22"/>
    <p:sldId id="1975" r:id="rId23"/>
    <p:sldId id="1978" r:id="rId24"/>
  </p:sldIdLst>
  <p:sldSz cx="12188825" cy="6858000"/>
  <p:notesSz cx="6858000" cy="9144000"/>
  <p:defaultTextStyle>
    <a:defPPr>
      <a:defRPr lang="en-US"/>
    </a:defPPr>
    <a:lvl1pPr marL="0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43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885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328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771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213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656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097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541" algn="l" defTabSz="609443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0" userDrawn="1">
          <p15:clr>
            <a:srgbClr val="A4A3A4"/>
          </p15:clr>
        </p15:guide>
        <p15:guide id="2" pos="24" userDrawn="1">
          <p15:clr>
            <a:srgbClr val="A4A3A4"/>
          </p15:clr>
        </p15:guide>
        <p15:guide id="3" orient="horz" pos="80">
          <p15:clr>
            <a:srgbClr val="A4A3A4"/>
          </p15:clr>
        </p15:guide>
        <p15:guide id="4" pos="3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clrMru>
    <a:srgbClr val="777777"/>
    <a:srgbClr val="070707"/>
    <a:srgbClr val="0E3689"/>
    <a:srgbClr val="1D9CE4"/>
    <a:srgbClr val="FFD53A"/>
    <a:srgbClr val="702076"/>
    <a:srgbClr val="5EBF33"/>
    <a:srgbClr val="FD7F20"/>
    <a:srgbClr val="0E1454"/>
    <a:srgbClr val="CE16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70460" autoAdjust="0"/>
  </p:normalViewPr>
  <p:slideViewPr>
    <p:cSldViewPr snapToGrid="0" snapToObjects="1">
      <p:cViewPr varScale="1">
        <p:scale>
          <a:sx n="78" d="100"/>
          <a:sy n="78" d="100"/>
        </p:scale>
        <p:origin x="786" y="84"/>
      </p:cViewPr>
      <p:guideLst>
        <p:guide orient="horz" pos="60"/>
        <p:guide pos="24"/>
        <p:guide orient="horz" pos="80"/>
        <p:guide pos="3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111" d="100"/>
          <a:sy n="111" d="100"/>
        </p:scale>
        <p:origin x="3832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439C997-21E5-5348-AFE6-AB6F92264850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327AC1D-5903-004B-A07D-BA6E3EE372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615C2D-FB91-8740-95C2-23C11A10F2F2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179EA0-CF08-6C46-9B0C-7A703F62F2C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E1E23A1-2359-A341-AFD4-DCB4B7D003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9837C5-E66E-4749-8D3A-655388B1EB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22731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4E49F-5C3A-ED4E-A68A-CCB3AA3B5D59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F8CB49-A7FB-5E4A-B599-DE21181351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224141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68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36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04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872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340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808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275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744" algn="l" defTabSz="1218936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 image = </a:t>
            </a:r>
            <a:r>
              <a:rPr lang="en-US" b="1" dirty="0"/>
              <a:t>64 × 64 × 3</a:t>
            </a:r>
            <a:r>
              <a:rPr lang="en-US" dirty="0"/>
              <a:t> Conv1: 3×3 kernel </a:t>
            </a:r>
          </a:p>
          <a:p>
            <a:r>
              <a:rPr lang="en-US" dirty="0"/>
              <a:t>stride = 1 </a:t>
            </a:r>
          </a:p>
          <a:p>
            <a:r>
              <a:rPr lang="en-US" dirty="0"/>
              <a:t>output channels = 16</a:t>
            </a:r>
          </a:p>
          <a:p>
            <a:r>
              <a:rPr lang="en-US" dirty="0"/>
              <a:t>64 × 64 × 16</a:t>
            </a:r>
            <a:br>
              <a:rPr lang="en-US" dirty="0"/>
            </a:br>
            <a:r>
              <a:rPr lang="en-US" dirty="0"/>
              <a:t>= 65,536 bytes (if int8)</a:t>
            </a:r>
            <a:br>
              <a:rPr lang="en-US" dirty="0"/>
            </a:br>
            <a:r>
              <a:rPr lang="en-US" dirty="0"/>
              <a:t>≈ 64 KB</a:t>
            </a:r>
          </a:p>
          <a:p>
            <a:endParaRPr lang="en-US" dirty="0"/>
          </a:p>
          <a:p>
            <a:r>
              <a:rPr lang="en-US" dirty="0"/>
              <a:t>+----+----+</a:t>
            </a:r>
            <a:br>
              <a:rPr lang="en-US" dirty="0"/>
            </a:br>
            <a:r>
              <a:rPr lang="en-US" dirty="0"/>
              <a:t>| P1 | P2 |</a:t>
            </a:r>
            <a:br>
              <a:rPr lang="en-US" dirty="0"/>
            </a:br>
            <a:r>
              <a:rPr lang="en-US" dirty="0"/>
              <a:t>+----+----+</a:t>
            </a:r>
            <a:br>
              <a:rPr lang="en-US" dirty="0"/>
            </a:br>
            <a:r>
              <a:rPr lang="en-US" dirty="0"/>
              <a:t>| P3 | P4 |</a:t>
            </a:r>
            <a:br>
              <a:rPr lang="en-US" dirty="0"/>
            </a:br>
            <a:r>
              <a:rPr lang="en-US" dirty="0"/>
              <a:t>+----+----+</a:t>
            </a:r>
            <a:br>
              <a:rPr lang="en-US" dirty="0"/>
            </a:br>
            <a:br>
              <a:rPr lang="en-US" dirty="0"/>
            </a:br>
            <a:r>
              <a:rPr lang="en-US" dirty="0"/>
              <a:t>32 × 32 × 16</a:t>
            </a:r>
            <a:br>
              <a:rPr lang="en-US" dirty="0"/>
            </a:br>
            <a:r>
              <a:rPr lang="en-US" dirty="0"/>
              <a:t>16 KB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8CB49-A7FB-5E4A-B599-DE211813512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73079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121893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0" dirty="0"/>
              <a:t>BN is </a:t>
            </a:r>
            <a:r>
              <a:rPr 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learned standardization step inserted between layers.</a:t>
            </a:r>
            <a:r>
              <a:rPr lang="en-US" b="0" dirty="0"/>
              <a:t>.</a:t>
            </a:r>
          </a:p>
          <a:p>
            <a:endParaRPr lang="en-US" dirty="0"/>
          </a:p>
          <a:p>
            <a:endParaRPr lang="en-US" dirty="0"/>
          </a:p>
          <a:p>
            <a:r>
              <a:rPr 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Without fusion (e.g. naive </a:t>
            </a:r>
            <a:r>
              <a:rPr lang="en-US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TFLite</a:t>
            </a:r>
            <a:r>
              <a:rPr 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Micro), the path looks like:</a:t>
            </a:r>
          </a:p>
          <a:p>
            <a:r>
              <a:rPr 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[input tensor] → Conv → [int32 tensor in DRAM]</a:t>
            </a:r>
          </a:p>
          <a:p>
            <a:r>
              <a:rPr 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→ </a:t>
            </a:r>
            <a:r>
              <a:rPr lang="en-US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Requant</a:t>
            </a:r>
            <a:r>
              <a:rPr 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[int8 tensor in DRAM]</a:t>
            </a:r>
          </a:p>
          <a:p>
            <a:r>
              <a:rPr 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→ BN → [int8 tensor in DRAM]</a:t>
            </a:r>
          </a:p>
          <a:p>
            <a:r>
              <a:rPr 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→ </a:t>
            </a:r>
            <a:r>
              <a:rPr lang="en-US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ReLU</a:t>
            </a:r>
            <a:r>
              <a:rPr 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→ [int8 tensor in DRAM]</a:t>
            </a:r>
          </a:p>
          <a:p>
            <a:r>
              <a:rPr 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↑ next layer reads this</a:t>
            </a:r>
          </a:p>
          <a:p>
            <a:r>
              <a:rPr 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Four passes over the data, four temporary buffers, four kernel dispatches.</a:t>
            </a:r>
          </a:p>
          <a:p>
            <a:r>
              <a:rPr 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With fusion (your code):</a:t>
            </a:r>
          </a:p>
          <a:p>
            <a:r>
              <a:rPr 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┌──────────────── one kernel ───────────────┐</a:t>
            </a:r>
          </a:p>
          <a:p>
            <a:r>
              <a:rPr 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[input] → MAC accumulate → ×scale → +offset → clamp → write int8 → next layer</a:t>
            </a:r>
          </a:p>
          <a:p>
            <a:r>
              <a:rPr 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(conv)       (</a:t>
            </a:r>
            <a:r>
              <a:rPr lang="en-US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requant</a:t>
            </a:r>
            <a:r>
              <a:rPr 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fused)   (act fused)</a:t>
            </a:r>
          </a:p>
          <a:p>
            <a:r>
              <a:rPr lang="en-US" sz="16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                               BN folded into weights at </a:t>
            </a:r>
            <a:r>
              <a:rPr lang="en-US" sz="16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codegen</a:t>
            </a:r>
            <a:endParaRPr lang="en-US" sz="16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8CB49-A7FB-5E4A-B599-DE211813512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05814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F8CB49-A7FB-5E4A-B599-DE2118135120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9028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80165" y="2474260"/>
            <a:ext cx="6437455" cy="996522"/>
          </a:xfrm>
          <a:ln>
            <a:noFill/>
          </a:ln>
        </p:spPr>
        <p:txBody>
          <a:bodyPr anchor="b" anchorCtr="0"/>
          <a:lstStyle>
            <a:lvl1pPr algn="r">
              <a:defRPr sz="3800"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F1D45AC-B80D-4805-BA4C-8776489E8022}"/>
              </a:ext>
            </a:extLst>
          </p:cNvPr>
          <p:cNvSpPr/>
          <p:nvPr userDrawn="1"/>
        </p:nvSpPr>
        <p:spPr>
          <a:xfrm>
            <a:off x="9411530" y="6331942"/>
            <a:ext cx="2777297" cy="526057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21893" tIns="60947" rIns="121893" bIns="60947"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>
            <a:off x="7552849" y="2666723"/>
            <a:ext cx="0" cy="835152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EB7A8E4-4917-4A3E-8E2F-D070BB4D10DE}"/>
              </a:ext>
            </a:extLst>
          </p:cNvPr>
          <p:cNvSpPr txBox="1"/>
          <p:nvPr userDrawn="1"/>
        </p:nvSpPr>
        <p:spPr>
          <a:xfrm>
            <a:off x="4067363" y="3799832"/>
            <a:ext cx="7411397" cy="387772"/>
          </a:xfrm>
          <a:prstGeom prst="rect">
            <a:avLst/>
          </a:prstGeom>
          <a:noFill/>
        </p:spPr>
        <p:txBody>
          <a:bodyPr wrap="none" lIns="121893" tIns="60947" rIns="121893" bIns="60947" rtlCol="0">
            <a:spAutoFit/>
          </a:bodyPr>
          <a:lstStyle/>
          <a:p>
            <a:pPr algn="r"/>
            <a:r>
              <a:rPr lang="en-US" sz="1720" dirty="0">
                <a:solidFill>
                  <a:srgbClr val="1D9CE4"/>
                </a:solidFill>
                <a:latin typeface="Calibri Light" panose="020F0302020204030204" pitchFamily="34" charset="0"/>
                <a:cs typeface="Calibri Light" panose="020F0302020204030204" pitchFamily="34" charset="0"/>
              </a:rPr>
              <a:t>A Leading Provider of Smart, Connected and Secure Embedded Control Solutions 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ACBDA27-1F54-4C50-8D76-28815B58BDC3}"/>
              </a:ext>
            </a:extLst>
          </p:cNvPr>
          <p:cNvCxnSpPr/>
          <p:nvPr userDrawn="1"/>
        </p:nvCxnSpPr>
        <p:spPr>
          <a:xfrm flipH="1">
            <a:off x="3410606" y="3724987"/>
            <a:ext cx="790916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599BB76E-0E67-7C41-9AEC-8C75006E444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935143" y="6123667"/>
            <a:ext cx="6419850" cy="252110"/>
          </a:xfrm>
          <a:prstGeom prst="rect">
            <a:avLst/>
          </a:prstGeom>
        </p:spPr>
        <p:txBody>
          <a:bodyPr lIns="182880" tIns="0" rIns="0" anchor="t" anchorCtr="0">
            <a:noAutofit/>
          </a:bodyPr>
          <a:lstStyle>
            <a:lvl1pPr marL="0" indent="0" algn="r">
              <a:buNone/>
              <a:defRPr sz="2200" b="0">
                <a:solidFill>
                  <a:srgbClr val="1D9CE4"/>
                </a:solidFill>
              </a:defRPr>
            </a:lvl1pPr>
          </a:lstStyle>
          <a:p>
            <a:pPr lvl="0"/>
            <a:r>
              <a:rPr lang="en-US" dirty="0"/>
              <a:t>Date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B2D92EAD-7B52-0549-B90C-8F01DFF1E6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35142" y="5763412"/>
            <a:ext cx="6420245" cy="314325"/>
          </a:xfrm>
          <a:prstGeom prst="rect">
            <a:avLst/>
          </a:prstGeom>
        </p:spPr>
        <p:txBody>
          <a:bodyPr rIns="0" bIns="0" anchor="b" anchorCtr="0">
            <a:noAutofit/>
          </a:bodyPr>
          <a:lstStyle>
            <a:lvl1pPr marL="0" indent="0" algn="r">
              <a:lnSpc>
                <a:spcPts val="2340"/>
              </a:lnSpc>
              <a:buNone/>
              <a:defRPr sz="2200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 dirty="0"/>
              <a:t>Presented by</a:t>
            </a:r>
          </a:p>
        </p:txBody>
      </p:sp>
      <p:pic>
        <p:nvPicPr>
          <p:cNvPr id="10" name="Picture 9" descr="SCS-015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55" y="5139766"/>
            <a:ext cx="1630420" cy="1630420"/>
          </a:xfrm>
          <a:prstGeom prst="rect">
            <a:avLst/>
          </a:prstGeom>
        </p:spPr>
      </p:pic>
      <p:pic>
        <p:nvPicPr>
          <p:cNvPr id="12" name="Picture 11" descr="MCHP-logo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61621" y="2635935"/>
            <a:ext cx="3584711" cy="9027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3758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410606" y="2034289"/>
            <a:ext cx="7909168" cy="1591386"/>
          </a:xfrm>
        </p:spPr>
        <p:txBody>
          <a:bodyPr anchor="b" anchorCtr="0"/>
          <a:lstStyle>
            <a:lvl1pPr algn="r">
              <a:defRPr sz="5300" b="1" cap="none" baseline="0">
                <a:solidFill>
                  <a:srgbClr val="0E3689"/>
                </a:solidFill>
              </a:defRPr>
            </a:lvl1pPr>
          </a:lstStyle>
          <a:p>
            <a:r>
              <a:rPr lang="en-US" dirty="0"/>
              <a:t>Section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3410606" y="3824300"/>
            <a:ext cx="7909168" cy="1018627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r">
              <a:buNone/>
              <a:defRPr sz="2700" b="0">
                <a:solidFill>
                  <a:srgbClr val="1D9CE4"/>
                </a:solidFill>
              </a:defRPr>
            </a:lvl1pPr>
            <a:lvl2pPr marL="609443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8885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3pPr>
            <a:lvl4pPr marL="1828328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4pPr>
            <a:lvl5pPr marL="243777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5pPr>
            <a:lvl6pPr marL="3047213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6pPr>
            <a:lvl7pPr marL="3656656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7pPr>
            <a:lvl8pPr marL="4266097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8pPr>
            <a:lvl9pPr marL="4875541" indent="0">
              <a:buNone/>
              <a:defRPr sz="19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Section Subtitle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1D51101-8690-2A4A-89F5-D13814AF99A1}"/>
              </a:ext>
            </a:extLst>
          </p:cNvPr>
          <p:cNvCxnSpPr/>
          <p:nvPr userDrawn="1"/>
        </p:nvCxnSpPr>
        <p:spPr>
          <a:xfrm flipH="1">
            <a:off x="3410606" y="3724987"/>
            <a:ext cx="7909168" cy="0"/>
          </a:xfrm>
          <a:prstGeom prst="line">
            <a:avLst/>
          </a:prstGeom>
          <a:ln w="12700" cmpd="sng">
            <a:solidFill>
              <a:schemeClr val="bg1">
                <a:lumMod val="50000"/>
              </a:scheme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882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CAEC6540-64C7-9747-877E-6D8504F5DE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77724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>
            <a:lvl1pPr>
              <a:defRPr sz="4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986DAD2F-D448-354C-9ACF-03ED78E9AF9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54778" y="923073"/>
            <a:ext cx="11400660" cy="5385963"/>
          </a:xfrm>
          <a:prstGeom prst="rect">
            <a:avLst/>
          </a:prstGeom>
        </p:spPr>
        <p:txBody>
          <a:bodyPr/>
          <a:lstStyle>
            <a:lvl1pPr marL="274201" indent="-274201">
              <a:defRPr sz="3200"/>
            </a:lvl1pPr>
            <a:lvl2pPr marL="576072" indent="-274320">
              <a:defRPr sz="2800"/>
            </a:lvl2pPr>
            <a:lvl3pPr marL="868680" indent="-274320">
              <a:defRPr sz="2400"/>
            </a:lvl3pPr>
            <a:lvl4pPr marL="1143000" indent="-274320">
              <a:defRPr sz="2000"/>
            </a:lvl4pPr>
            <a:lvl5pPr marL="1435608" indent="-274320"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8344651-9BC3-804A-ABEF-ABD80FF3CEB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04FD760F-7C5E-4E44-B69C-EB85837D79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6C4036F-02D0-6547-A814-7D5AACFEC9E8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9932804D-F1B0-0D45-8469-4C00B2E72DCD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1CA5AD87-2C2E-CE40-A88B-1ABF9938A991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23 June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91A83DFC-2408-9140-996A-1BFC995DB1BA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1B3A264-B363-DC44-BE09-4733DFA5AC2F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0683038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B9BB9-8088-1B4E-AA38-17BC94EF14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5"/>
            <a:ext cx="11400661" cy="7772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5F3DB77-FEA1-E44C-9C5F-88B2D4B5D28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403852"/>
            <a:ext cx="11400660" cy="490518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DC4207E9-C13E-1647-9F09-C187007808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E1704FFC-4F15-324D-96E6-976EE1494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F42D503-9A96-D64F-9F2A-686838B59E92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E79DA906-E77A-5240-98D3-F3FA40331838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6B651317-B18C-E948-B990-13010FE9F46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23 June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18C4F890-E5A4-0844-9DAE-418C6FA03CF4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747B63C-8A0B-7B43-8B1E-3F2EE21776C4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4407745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Line 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12">
            <a:extLst>
              <a:ext uri="{FF2B5EF4-FFF2-40B4-BE49-F238E27FC236}">
                <a16:creationId xmlns:a16="http://schemas.microsoft.com/office/drawing/2014/main" id="{955162B4-304F-5841-8C1A-37D23DCFC92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626375"/>
            <a:ext cx="11400660" cy="4664076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98AAA9D-2041-3B4F-8508-758963B797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1489280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6A6C8C-5670-1242-B987-55F42BAD97D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AD67FA37-0073-AF47-8F1C-C046BC1C22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FD1FA29F-D3D1-B743-BF1F-4F74E9BFBE96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C4D98CAA-53AB-CA40-BB99-AC8568C9C965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493471D4-F779-B244-9C40-C480DA421F1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23 June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35653C1-7F81-CF47-B063-A8C4BC3DF144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13EB453-955B-B940-9782-A882942161A9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297158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12">
            <a:extLst>
              <a:ext uri="{FF2B5EF4-FFF2-40B4-BE49-F238E27FC236}">
                <a16:creationId xmlns:a16="http://schemas.microsoft.com/office/drawing/2014/main" id="{2EFF8C43-59A6-4644-B04E-6AE187BD55D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929269"/>
            <a:ext cx="5505846" cy="5374679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69F5C3FF-72D2-604B-A6AF-63E081CA68F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0324" y="929270"/>
            <a:ext cx="5505846" cy="5374678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3872A14E-E83F-9541-B766-352B85366E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78986A39-4957-2843-AFDE-E6160A6C05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82C2564-89A5-B045-B11D-EC2B6C4EF263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46810D8-1F1D-2E44-98D2-9655BDEBA9A9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D5B9D91C-B319-6740-B041-91E92A828C26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23 June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8CD45905-001C-3245-A3FD-ABDBA73B7BBC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CF045E37-2F57-AB4C-8037-7C0BF70F4E15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026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114ABC63-0F02-3D4C-B5A8-224D9EF04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Text Placeholder 9">
            <a:extLst>
              <a:ext uri="{FF2B5EF4-FFF2-40B4-BE49-F238E27FC236}">
                <a16:creationId xmlns:a16="http://schemas.microsoft.com/office/drawing/2014/main" id="{EF0C5114-81F0-6D40-9DA2-1EA66CC7C6B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rgbClr val="1D9CE4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10" name="Content Placeholder 12">
            <a:extLst>
              <a:ext uri="{FF2B5EF4-FFF2-40B4-BE49-F238E27FC236}">
                <a16:creationId xmlns:a16="http://schemas.microsoft.com/office/drawing/2014/main" id="{4354C555-752C-5946-99B7-1752C8A6C9F8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2454" y="1408545"/>
            <a:ext cx="5505846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B1B5C683-E8CE-5447-B10F-1FA96B9838C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0324" y="1408546"/>
            <a:ext cx="5505846" cy="490779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B9F735E5-BB03-E141-8FE5-6E137A04C7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8" name="Slide Number Placeholder 8">
            <a:extLst>
              <a:ext uri="{FF2B5EF4-FFF2-40B4-BE49-F238E27FC236}">
                <a16:creationId xmlns:a16="http://schemas.microsoft.com/office/drawing/2014/main" id="{2D0980E6-4C36-ED4A-BBAC-FCB3FD474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EE4F5BD-A8B2-8A43-8F9D-27796637426D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6AB45CE-9A16-9D42-B335-40FCBA3C7672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DA8F7AB5-BFE5-D543-9ED3-50EAB714655D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23 June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B272549-DB7B-3E4B-A9DF-413990017250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5593CC7-18E5-1E4B-B493-BCCB1352C41B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340959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7" y="923075"/>
            <a:ext cx="5474569" cy="567713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i="0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6385192" y="941660"/>
            <a:ext cx="5387630" cy="567714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 dirty="0"/>
              <a:t>Click to edit Master text styles.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0898E04-A14A-8140-993E-87174E0C2C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12">
            <a:extLst>
              <a:ext uri="{FF2B5EF4-FFF2-40B4-BE49-F238E27FC236}">
                <a16:creationId xmlns:a16="http://schemas.microsoft.com/office/drawing/2014/main" id="{5170BFA0-6B7E-2944-A49D-35B39ABC44C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561175"/>
            <a:ext cx="5474567" cy="4795020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9" name="Content Placeholder 12">
            <a:extLst>
              <a:ext uri="{FF2B5EF4-FFF2-40B4-BE49-F238E27FC236}">
                <a16:creationId xmlns:a16="http://schemas.microsoft.com/office/drawing/2014/main" id="{C883CD4E-1B81-AF4E-B076-F6C9C7DA1692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5193" y="1561175"/>
            <a:ext cx="5387630" cy="4795019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E2902E3F-7B87-844B-A375-55F0B5134651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2" name="Slide Number Placeholder 8">
            <a:extLst>
              <a:ext uri="{FF2B5EF4-FFF2-40B4-BE49-F238E27FC236}">
                <a16:creationId xmlns:a16="http://schemas.microsoft.com/office/drawing/2014/main" id="{884F7A06-CF40-064F-B9BE-F69B2DFE50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7ED839D-F08B-6B46-82B5-51DE2326DF5F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FC1BBAD-8C56-A04F-899C-5B4188A5F5D3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A25B9A85-EE0A-E54F-AA18-41FF007C6B2F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23 June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5CAC621-04E4-3B47-A37C-31D012718AE9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F966AC5E-3B4D-524B-B3AE-A5267FAD281D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731022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+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9" y="1381004"/>
            <a:ext cx="5474569" cy="580605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85192" y="1381003"/>
            <a:ext cx="5387630" cy="580606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buNone/>
              <a:defRPr sz="2800" b="1" u="sng">
                <a:solidFill>
                  <a:schemeClr val="accent1"/>
                </a:solidFill>
              </a:defRPr>
            </a:lvl1pPr>
            <a:lvl2pPr marL="609443" indent="0">
              <a:buNone/>
              <a:defRPr sz="2700" b="1"/>
            </a:lvl2pPr>
            <a:lvl3pPr marL="1218885" indent="0">
              <a:buNone/>
              <a:defRPr sz="2400" b="1"/>
            </a:lvl3pPr>
            <a:lvl4pPr marL="1828328" indent="0">
              <a:buNone/>
              <a:defRPr sz="2100" b="1"/>
            </a:lvl4pPr>
            <a:lvl5pPr marL="2437771" indent="0">
              <a:buNone/>
              <a:defRPr sz="2100" b="1"/>
            </a:lvl5pPr>
            <a:lvl6pPr marL="3047213" indent="0">
              <a:buNone/>
              <a:defRPr sz="2100" b="1"/>
            </a:lvl6pPr>
            <a:lvl7pPr marL="3656656" indent="0">
              <a:buNone/>
              <a:defRPr sz="2100" b="1"/>
            </a:lvl7pPr>
            <a:lvl8pPr marL="4266097" indent="0">
              <a:buNone/>
              <a:defRPr sz="2100" b="1"/>
            </a:lvl8pPr>
            <a:lvl9pPr marL="4875541" indent="0">
              <a:buNone/>
              <a:defRPr sz="21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22C09BD-60A2-D244-8F4B-695A122744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E1D56C46-C13D-6843-8D78-E9DE559D36FD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31986"/>
            <a:ext cx="11400661" cy="428625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88E56A8-D17E-8848-8C5B-EC8D2FC7921A}"/>
              </a:ext>
            </a:extLst>
          </p:cNvPr>
          <p:cNvSpPr/>
          <p:nvPr userDrawn="1"/>
        </p:nvSpPr>
        <p:spPr>
          <a:xfrm>
            <a:off x="10436087" y="6490880"/>
            <a:ext cx="129209" cy="198155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1" name="Content Placeholder 12">
            <a:extLst>
              <a:ext uri="{FF2B5EF4-FFF2-40B4-BE49-F238E27FC236}">
                <a16:creationId xmlns:a16="http://schemas.microsoft.com/office/drawing/2014/main" id="{61902A9B-4EBD-9042-9417-398D31C80DB0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1988634"/>
            <a:ext cx="5474567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12">
            <a:extLst>
              <a:ext uri="{FF2B5EF4-FFF2-40B4-BE49-F238E27FC236}">
                <a16:creationId xmlns:a16="http://schemas.microsoft.com/office/drawing/2014/main" id="{326E65A8-182F-624C-B231-E6CD084CC09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385193" y="1988634"/>
            <a:ext cx="5387630" cy="4327704"/>
          </a:xfrm>
          <a:prstGeom prst="rect">
            <a:avLst/>
          </a:prstGeom>
        </p:spPr>
        <p:txBody>
          <a:bodyPr/>
          <a:lstStyle>
            <a:lvl1pPr marL="274201" indent="-274201">
              <a:defRPr/>
            </a:lvl1pPr>
            <a:lvl2pPr marL="576072" indent="-274320">
              <a:defRPr/>
            </a:lvl2pPr>
            <a:lvl3pPr marL="868680" indent="-274320">
              <a:defRPr/>
            </a:lvl3pPr>
            <a:lvl4pPr marL="1143000" indent="-274320">
              <a:defRPr/>
            </a:lvl4pPr>
            <a:lvl5pPr marL="1435608" indent="-274320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4985913B-9067-5E4F-BEB8-B40B0526CDDE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13" name="Slide Number Placeholder 8">
            <a:extLst>
              <a:ext uri="{FF2B5EF4-FFF2-40B4-BE49-F238E27FC236}">
                <a16:creationId xmlns:a16="http://schemas.microsoft.com/office/drawing/2014/main" id="{099EDC09-5657-6C4E-AE82-350208BA5C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FDC922F-64A0-A245-9B54-7182667660D0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328C046-B8FC-994F-85A4-8FD25DF19D2F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AB520446-FD47-794F-A313-0EC6DBF6114F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23 June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4CEB0F66-0524-644B-A3CD-BA2A14891286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7885BC8B-986D-8044-8033-3156B5F78D3D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167312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B3394856-2C64-DE43-BBDF-953266084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1600406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DE56F0-37A2-F74C-BB25-DF51CEB5FA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4" name="Slide Number Placeholder 8">
            <a:extLst>
              <a:ext uri="{FF2B5EF4-FFF2-40B4-BE49-F238E27FC236}">
                <a16:creationId xmlns:a16="http://schemas.microsoft.com/office/drawing/2014/main" id="{CF750018-A4D6-1844-ABEB-36F0723124E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54FF79-E97B-4A45-8531-09115531EF4A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A96C4752-EFF3-2B44-8E4B-F4DEFD9A25AA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3BFC65E3-DBEB-1842-AA6D-2998A3A3FD5B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23 June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2E21974-58F0-B847-85B6-BB315041D590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41A98491-2152-B244-BD39-4FE185E36846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02120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+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E966262-8B36-DB45-BCFF-E847EDF91C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5"/>
            <a:ext cx="11400661" cy="777240"/>
          </a:xfrm>
        </p:spPr>
        <p:txBody>
          <a:bodyPr/>
          <a:lstStyle>
            <a:lvl1pPr>
              <a:defRPr>
                <a:solidFill>
                  <a:srgbClr val="0E3689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8F614E39-BA14-7D4B-8328-2FB5286D32B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68603" y="829115"/>
            <a:ext cx="11400661" cy="428625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>
              <a:buNone/>
              <a:defRPr>
                <a:solidFill>
                  <a:schemeClr val="bg2"/>
                </a:solidFill>
              </a:defRPr>
            </a:lvl1pPr>
          </a:lstStyle>
          <a:p>
            <a:pPr lvl="0"/>
            <a:r>
              <a:rPr lang="en-US" b="1" kern="0" dirty="0">
                <a:solidFill>
                  <a:srgbClr val="45A8C4"/>
                </a:solidFill>
                <a:latin typeface="+mn-lt"/>
                <a:cs typeface="Calibri"/>
              </a:rPr>
              <a:t>Subtitle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306521-0BA2-7C48-8CAD-8B9AFEEF681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6" name="Slide Number Placeholder 8">
            <a:extLst>
              <a:ext uri="{FF2B5EF4-FFF2-40B4-BE49-F238E27FC236}">
                <a16:creationId xmlns:a16="http://schemas.microsoft.com/office/drawing/2014/main" id="{ACCBDF1D-727A-8D40-8A82-92589DBBC3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33604027-1BF3-C14F-877E-5C7EE39F69C0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B834F8B5-2138-234E-903C-B35966BCD117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69AB5E9E-CCD6-9040-9CA1-3DCB3C4DE5FC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23 June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30394146-079F-A945-B1E9-105CEE8A4D91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F7A5633-2AD4-2D44-AC80-6A32A00CAC6A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94327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EDE752C-4DF4-1741-BE5B-60F47530E2A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3" name="Slide Number Placeholder 8">
            <a:extLst>
              <a:ext uri="{FF2B5EF4-FFF2-40B4-BE49-F238E27FC236}">
                <a16:creationId xmlns:a16="http://schemas.microsoft.com/office/drawing/2014/main" id="{C025A1E1-D99B-A04E-A12E-D4E8E63C0B3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8C8A96F-9EB8-7740-A265-0BBDA7FB1BFC}"/>
              </a:ext>
            </a:extLst>
          </p:cNvPr>
          <p:cNvGrpSpPr/>
          <p:nvPr userDrawn="1"/>
        </p:nvGrpSpPr>
        <p:grpSpPr>
          <a:xfrm>
            <a:off x="3984798" y="6596323"/>
            <a:ext cx="3594287" cy="261677"/>
            <a:chOff x="3984798" y="6596323"/>
            <a:chExt cx="3594287" cy="261677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D3354E03-A149-934A-8EE2-DADBA3C644C3}"/>
                </a:ext>
              </a:extLst>
            </p:cNvPr>
            <p:cNvSpPr txBox="1"/>
            <p:nvPr userDrawn="1"/>
          </p:nvSpPr>
          <p:spPr>
            <a:xfrm>
              <a:off x="3984798" y="6596323"/>
              <a:ext cx="3594287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fld id="{47A855CC-F7C0-7640-82CB-E23B5A29FE53}" type="datetime3">
                <a:rPr lang="en-US" sz="1000" smtClean="0">
                  <a:solidFill>
                    <a:schemeClr val="bg1">
                      <a:lumMod val="65000"/>
                    </a:schemeClr>
                  </a:solidFill>
                </a:rPr>
                <a:t>23 June 2026</a:t>
              </a:fld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 Microchip Technology Inc. and its subsidiaries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783E9907-5B53-D94D-B91B-5D80BFCB4C36}"/>
                </a:ext>
              </a:extLst>
            </p:cNvPr>
            <p:cNvSpPr/>
            <p:nvPr userDrawn="1"/>
          </p:nvSpPr>
          <p:spPr>
            <a:xfrm>
              <a:off x="4070555" y="6611779"/>
              <a:ext cx="747251" cy="23076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 dirty="0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D8318FC-FB83-DD43-9569-4DB052814862}"/>
                </a:ext>
              </a:extLst>
            </p:cNvPr>
            <p:cNvSpPr txBox="1"/>
            <p:nvPr userDrawn="1"/>
          </p:nvSpPr>
          <p:spPr>
            <a:xfrm>
              <a:off x="4611329" y="6611779"/>
              <a:ext cx="284763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sz="1000" dirty="0">
                  <a:solidFill>
                    <a:schemeClr val="bg1">
                      <a:lumMod val="65000"/>
                    </a:schemeClr>
                  </a:solidFill>
                </a:rPr>
                <a:t>©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789313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MCHP-logo.jpg"/>
          <p:cNvPicPr>
            <a:picLocks noChangeAspect="1"/>
          </p:cNvPicPr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3436" y="6396138"/>
            <a:ext cx="1447127" cy="364442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942795"/>
          </a:xfrm>
          <a:prstGeom prst="rect">
            <a:avLst/>
          </a:prstGeom>
        </p:spPr>
        <p:txBody>
          <a:bodyPr vert="horz" lIns="121888" tIns="60944" rIns="121888" bIns="60944" rtlCol="0" anchor="t" anchorCtr="0">
            <a:noAutofit/>
          </a:bodyPr>
          <a:lstStyle/>
          <a:p>
            <a:r>
              <a:rPr lang="en-US" dirty="0"/>
              <a:t>Click to edit Master title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55509" y="1039091"/>
            <a:ext cx="11400661" cy="5412311"/>
          </a:xfrm>
          <a:prstGeom prst="rect">
            <a:avLst/>
          </a:prstGeom>
        </p:spPr>
        <p:txBody>
          <a:bodyPr vert="horz" lIns="121888" tIns="60944" rIns="121888" bIns="60944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52589C74-EF87-2646-A562-5428C2FBE5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164514" y="6479339"/>
            <a:ext cx="3859795" cy="233968"/>
          </a:xfrm>
          <a:prstGeom prst="rect">
            <a:avLst/>
          </a:prstGeom>
        </p:spPr>
        <p:txBody>
          <a:bodyPr vert="horz" lIns="121888" tIns="60944" rIns="121888" bIns="60944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>
                <a:latin typeface="Calibri Light" panose="020F0302020204030204" pitchFamily="34" charset="0"/>
                <a:cs typeface="Calibri Light" panose="020F0302020204030204" pitchFamily="34" charset="0"/>
              </a:rPr>
              <a:t>Microchip Propietary and Confidential</a:t>
            </a:r>
            <a:endParaRPr lang="en-US" dirty="0">
              <a:latin typeface="Calibri Light" panose="020F0302020204030204" pitchFamily="34" charset="0"/>
              <a:cs typeface="Calibri Light" panose="020F0302020204030204" pitchFamily="34" charset="0"/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2865650-0440-F143-8EFF-C6F819EF3F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53172" y="6455581"/>
            <a:ext cx="386650" cy="36444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1AA82-C1C2-924B-B843-6C0FB13ED72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979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6" r:id="rId4"/>
    <p:sldLayoutId id="2147483660" r:id="rId5"/>
    <p:sldLayoutId id="2147483652" r:id="rId6"/>
    <p:sldLayoutId id="2147483657" r:id="rId7"/>
    <p:sldLayoutId id="2147483653" r:id="rId8"/>
    <p:sldLayoutId id="2147483658" r:id="rId9"/>
    <p:sldLayoutId id="2147483654" r:id="rId10"/>
    <p:sldLayoutId id="2147483659" r:id="rId11"/>
    <p:sldLayoutId id="2147483655" r:id="rId12"/>
  </p:sldLayoutIdLst>
  <p:hf sldNum="0" hdr="0" ftr="0" dt="0"/>
  <p:txStyles>
    <p:titleStyle>
      <a:lvl1pPr algn="l" defTabSz="609443" rtl="0" eaLnBrk="1" latinLnBrk="0" hangingPunct="1">
        <a:lnSpc>
          <a:spcPct val="100000"/>
        </a:lnSpc>
        <a:spcBef>
          <a:spcPct val="0"/>
        </a:spcBef>
        <a:buNone/>
        <a:defRPr sz="4400" b="1" kern="1200" normalizeH="0" baseline="0">
          <a:solidFill>
            <a:srgbClr val="0E3689"/>
          </a:solidFill>
          <a:latin typeface="+mj-lt"/>
          <a:ea typeface="+mj-ea"/>
          <a:cs typeface="+mj-cs"/>
        </a:defRPr>
      </a:lvl1pPr>
    </p:titleStyle>
    <p:bodyStyle>
      <a:lvl1pPr marL="274320" indent="-274320" algn="l" defTabSz="609443" rtl="0" eaLnBrk="1" latinLnBrk="0" hangingPunct="1">
        <a:spcBef>
          <a:spcPts val="300"/>
        </a:spcBef>
        <a:buClr>
          <a:srgbClr val="0E3689"/>
        </a:buClr>
        <a:buFont typeface="Arial"/>
        <a:buChar char="•"/>
        <a:defRPr sz="3200" b="1" kern="1200">
          <a:solidFill>
            <a:srgbClr val="070707"/>
          </a:solidFill>
          <a:latin typeface="+mn-lt"/>
          <a:ea typeface="+mn-ea"/>
          <a:cs typeface="+mn-cs"/>
        </a:defRPr>
      </a:lvl1pPr>
      <a:lvl2pPr marL="576072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800" kern="1200">
          <a:solidFill>
            <a:srgbClr val="070707"/>
          </a:solidFill>
          <a:latin typeface="+mn-lt"/>
          <a:ea typeface="+mn-ea"/>
          <a:cs typeface="+mn-cs"/>
        </a:defRPr>
      </a:lvl2pPr>
      <a:lvl3pPr marL="868680" indent="-274320" algn="l" defTabSz="609443" rtl="0" eaLnBrk="1" latinLnBrk="0" hangingPunct="1">
        <a:spcBef>
          <a:spcPts val="300"/>
        </a:spcBef>
        <a:buClr>
          <a:srgbClr val="1D9CE4"/>
        </a:buClr>
        <a:buFont typeface="Arial"/>
        <a:buChar char="•"/>
        <a:defRPr sz="2400" kern="1200">
          <a:solidFill>
            <a:srgbClr val="070707"/>
          </a:solidFill>
          <a:latin typeface="+mn-lt"/>
          <a:ea typeface="+mn-ea"/>
          <a:cs typeface="+mn-cs"/>
        </a:defRPr>
      </a:lvl3pPr>
      <a:lvl4pPr marL="1143000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4pPr>
      <a:lvl5pPr marL="1435608" indent="-274320" algn="l" defTabSz="609443" rtl="0" eaLnBrk="1" latinLnBrk="0" hangingPunct="1">
        <a:spcBef>
          <a:spcPts val="300"/>
        </a:spcBef>
        <a:buClr>
          <a:srgbClr val="1D9CE4"/>
        </a:buClr>
        <a:buFont typeface="Arial" panose="020B0604020202020204" pitchFamily="34" charset="0"/>
        <a:buChar char="•"/>
        <a:defRPr sz="2000" kern="1200">
          <a:solidFill>
            <a:srgbClr val="070707"/>
          </a:solidFill>
          <a:latin typeface="+mn-lt"/>
          <a:ea typeface="+mn-ea"/>
          <a:cs typeface="+mn-cs"/>
        </a:defRPr>
      </a:lvl5pPr>
      <a:lvl6pPr marL="3351933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376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0819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261" indent="-304723" algn="l" defTabSz="609443" rtl="0" eaLnBrk="1" latinLnBrk="0" hangingPunct="1">
        <a:spcBef>
          <a:spcPct val="20000"/>
        </a:spcBef>
        <a:buFont typeface="Arial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4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885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328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77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213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656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097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541" algn="l" defTabSz="609443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559" userDrawn="1">
          <p15:clr>
            <a:srgbClr val="F26B43"/>
          </p15:clr>
        </p15:guide>
        <p15:guide id="2" pos="168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5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4.jp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8D854E-F0FA-DA43-9468-0509537A29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err="1"/>
              <a:t>MCUNet</a:t>
            </a:r>
            <a:br>
              <a:rPr lang="en-US" dirty="0"/>
            </a:br>
            <a:r>
              <a:rPr lang="en-US" dirty="0"/>
              <a:t>Tiny Deep Learning on MCUs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73D081-4997-FF4D-B75C-F6275A20E91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23/06/2026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8F16D4-E23A-8B42-AEFF-22E5AFC9F8F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anchor="b" anchorCtr="0"/>
          <a:lstStyle/>
          <a:p>
            <a:r>
              <a:rPr lang="en-US" dirty="0"/>
              <a:t>Enoch Richbert J</a:t>
            </a:r>
          </a:p>
        </p:txBody>
      </p:sp>
    </p:spTree>
    <p:extLst>
      <p:ext uri="{BB962C8B-B14F-4D97-AF65-F5344CB8AC3E}">
        <p14:creationId xmlns:p14="http://schemas.microsoft.com/office/powerpoint/2010/main" val="21765223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AC07ED-0E8F-3341-BD66-CC6F287C0B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6B6E4B-58BC-984B-B688-8AAF041C561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The Promise</a:t>
            </a:r>
          </a:p>
          <a:p>
            <a:pPr lvl="1"/>
            <a:r>
              <a:rPr lang="en-US" dirty="0"/>
              <a:t>What can </a:t>
            </a:r>
            <a:r>
              <a:rPr lang="en-US" dirty="0" err="1"/>
              <a:t>MCUNet</a:t>
            </a:r>
            <a:r>
              <a:rPr lang="en-US" dirty="0"/>
              <a:t> do?</a:t>
            </a:r>
          </a:p>
          <a:p>
            <a:r>
              <a:rPr lang="en-US" dirty="0"/>
              <a:t>The Process</a:t>
            </a:r>
          </a:p>
          <a:p>
            <a:pPr lvl="1"/>
            <a:r>
              <a:rPr lang="en-US" dirty="0"/>
              <a:t>How does </a:t>
            </a:r>
            <a:r>
              <a:rPr lang="en-US" dirty="0" err="1"/>
              <a:t>MCUNet</a:t>
            </a:r>
            <a:r>
              <a:rPr lang="en-US" dirty="0"/>
              <a:t> work?</a:t>
            </a:r>
          </a:p>
          <a:p>
            <a:pPr lvl="2"/>
            <a:r>
              <a:rPr lang="en-US" dirty="0"/>
              <a:t>Techniques that reduce peak SRAM</a:t>
            </a:r>
          </a:p>
          <a:p>
            <a:pPr lvl="2"/>
            <a:r>
              <a:rPr lang="en-US" dirty="0"/>
              <a:t>Techniques that reduce latency</a:t>
            </a:r>
          </a:p>
          <a:p>
            <a:r>
              <a:rPr lang="en-US" dirty="0"/>
              <a:t>The Playbook</a:t>
            </a:r>
          </a:p>
          <a:p>
            <a:pPr lvl="1"/>
            <a:r>
              <a:rPr lang="en-US" dirty="0"/>
              <a:t>How to integrate this into our MCU project?</a:t>
            </a:r>
          </a:p>
          <a:p>
            <a:r>
              <a:rPr lang="en-US" dirty="0"/>
              <a:t>The Possibilities</a:t>
            </a:r>
          </a:p>
          <a:p>
            <a:pPr lvl="1"/>
            <a:r>
              <a:rPr lang="en-US" dirty="0"/>
              <a:t>What next?</a:t>
            </a:r>
          </a:p>
        </p:txBody>
      </p:sp>
    </p:spTree>
    <p:extLst>
      <p:ext uri="{BB962C8B-B14F-4D97-AF65-F5344CB8AC3E}">
        <p14:creationId xmlns:p14="http://schemas.microsoft.com/office/powerpoint/2010/main" val="2441716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Demo3">
            <a:hlinkClick r:id="" action="ppaction://media"/>
            <a:extLst>
              <a:ext uri="{FF2B5EF4-FFF2-40B4-BE49-F238E27FC236}">
                <a16:creationId xmlns:a16="http://schemas.microsoft.com/office/drawing/2014/main" id="{E3ED2F97-FDA8-54B6-9F8E-B036C0D8C68A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909993" y="1626375"/>
            <a:ext cx="8291691" cy="4664076"/>
          </a:xfrm>
          <a:prstGeom prst="rect">
            <a:avLst/>
          </a:prstGeom>
          <a:noFill/>
        </p:spPr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A7E8A196-94E4-B7C2-8939-688312CDF9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1489280"/>
          </a:xfrm>
        </p:spPr>
        <p:txBody>
          <a:bodyPr anchor="t">
            <a:normAutofit/>
          </a:bodyPr>
          <a:lstStyle/>
          <a:p>
            <a:r>
              <a:rPr lang="en-US" dirty="0"/>
              <a:t>The Promise</a:t>
            </a:r>
            <a:br>
              <a:rPr lang="en-US" dirty="0"/>
            </a:b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7F75561-B2C4-82B1-2EDB-7997EFA4DA1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18407" y="1299910"/>
            <a:ext cx="6785265" cy="5089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534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11" fill="hold" display="0">
                  <p:stCondLst>
                    <p:cond delay="indefinite"/>
                  </p:stCondLst>
                </p:cTn>
                <p:tgtEl>
                  <p:spTgt spid="9"/>
                </p:tgtEl>
              </p:cMediaNode>
            </p:video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38E888F-F481-3526-585E-4D9B4CDC75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1457" y="652321"/>
            <a:ext cx="3938401" cy="366763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A2CF4BE-CA90-C67D-7EDC-8AFCDA14D7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7105" y="4319957"/>
            <a:ext cx="8547104" cy="15604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85387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387F6EB2-5938-9A7A-3B2F-465732EA03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5"/>
            <a:ext cx="11400661" cy="77724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/>
              <a:t>The Process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9B768F6-83DB-949A-EB75-F1E6086EADA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68603" y="831986"/>
            <a:ext cx="11400661" cy="428625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200">
                <a:solidFill>
                  <a:srgbClr val="45A8C4"/>
                </a:solidFill>
              </a:rPr>
              <a:t>System-Algorithm Co-design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F1AE0CC-013A-C749-49AD-1C0E2DD3F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524" y="1403852"/>
            <a:ext cx="9524629" cy="4905184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7296203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B9C87F3A-0717-4588-0776-5F4BBA9BE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7"/>
            <a:ext cx="11400661" cy="777240"/>
          </a:xfrm>
        </p:spPr>
        <p:txBody>
          <a:bodyPr/>
          <a:lstStyle/>
          <a:p>
            <a:r>
              <a:rPr lang="en-US" dirty="0"/>
              <a:t>The Process</a:t>
            </a:r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AE3E97F0-B2F8-9558-EC8F-6A8A57132DE7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355509" y="929269"/>
            <a:ext cx="5505846" cy="5374679"/>
          </a:xfrm>
        </p:spPr>
        <p:txBody>
          <a:bodyPr/>
          <a:lstStyle/>
          <a:p>
            <a:r>
              <a:rPr lang="en-US" dirty="0"/>
              <a:t>Peak SRAM Reduction</a:t>
            </a:r>
          </a:p>
          <a:p>
            <a:pPr lvl="1"/>
            <a:r>
              <a:rPr lang="en-US" dirty="0"/>
              <a:t>Patch-based inference</a:t>
            </a:r>
          </a:p>
          <a:p>
            <a:pPr lvl="1"/>
            <a:r>
              <a:rPr lang="en-US" dirty="0"/>
              <a:t>Global memory scheduling </a:t>
            </a:r>
          </a:p>
          <a:p>
            <a:pPr lvl="1"/>
            <a:r>
              <a:rPr lang="en-US" dirty="0"/>
              <a:t>In-place </a:t>
            </a:r>
            <a:r>
              <a:rPr lang="en-US" dirty="0" err="1"/>
              <a:t>depthwise</a:t>
            </a:r>
            <a:r>
              <a:rPr lang="en-US" dirty="0"/>
              <a:t> convolution</a:t>
            </a:r>
          </a:p>
          <a:p>
            <a:pPr lvl="1"/>
            <a:r>
              <a:rPr lang="en-US" dirty="0"/>
              <a:t>Static buffer placement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92041FA8-6885-94C3-E208-6FCD71DF3508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50324" y="929270"/>
            <a:ext cx="5505846" cy="5374678"/>
          </a:xfrm>
        </p:spPr>
        <p:txBody>
          <a:bodyPr/>
          <a:lstStyle/>
          <a:p>
            <a:r>
              <a:rPr lang="en-US" dirty="0"/>
              <a:t>Latency Reduction</a:t>
            </a:r>
          </a:p>
          <a:p>
            <a:pPr lvl="1"/>
            <a:r>
              <a:rPr lang="en-US" dirty="0"/>
              <a:t>No interpreter </a:t>
            </a:r>
          </a:p>
          <a:p>
            <a:pPr lvl="1"/>
            <a:r>
              <a:rPr lang="en-US" dirty="0"/>
              <a:t>Specialized per-shape kernels</a:t>
            </a:r>
          </a:p>
          <a:p>
            <a:pPr lvl="1"/>
            <a:r>
              <a:rPr lang="en-US" dirty="0"/>
              <a:t>Cache friendly data layout</a:t>
            </a:r>
          </a:p>
          <a:p>
            <a:pPr lvl="1"/>
            <a:r>
              <a:rPr lang="en-US" dirty="0"/>
              <a:t>Loop optimizations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5991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uiExpand="1" build="p"/>
      <p:bldP spid="1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62A05A35-54AD-BA22-DCF9-5A73B7CB78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77724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dirty="0"/>
              <a:t>Peak SRAM Reduction</a:t>
            </a:r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53B0386-4756-A652-65FD-7E37EEC169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5894" y="923073"/>
            <a:ext cx="6718427" cy="538596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0493479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B2AE9DD4-37FD-60EC-D4DE-7CCF16FC2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Patch-based inference</a:t>
            </a:r>
            <a:br>
              <a:rPr lang="en-US" dirty="0"/>
            </a:b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DCFDE37-4F63-AD2A-3816-6811891E468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Imbalanced Memory Distribution of CNNs (MobileNetV2)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4B80DF5-25FA-4825-F217-54636C6895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853" y="1838103"/>
            <a:ext cx="8545118" cy="3181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72845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3223C0-9E6F-8A3F-0DBF-65C33BAB06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719" y="1585576"/>
            <a:ext cx="10108239" cy="3386259"/>
          </a:xfrm>
          <a:prstGeom prst="rect">
            <a:avLst/>
          </a:prstGeom>
          <a:noFill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6B26FE2-03BB-F4CF-F012-4CDF2E21A5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5509" y="96296"/>
            <a:ext cx="11400661" cy="1489280"/>
          </a:xfrm>
        </p:spPr>
        <p:txBody>
          <a:bodyPr anchor="t">
            <a:normAutofit/>
          </a:bodyPr>
          <a:lstStyle/>
          <a:p>
            <a:r>
              <a:rPr lang="en-US"/>
              <a:t>Patch-based inference</a:t>
            </a:r>
            <a:br>
              <a:rPr lang="en-US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295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F345B-CBF7-F0D6-800A-97BF507643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memory scheduling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7D7027-27D9-A818-AC5F-A7C40F32BB9B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One static arena with compile-time offsets</a:t>
            </a:r>
          </a:p>
          <a:p>
            <a:r>
              <a:rPr lang="en-US" dirty="0"/>
              <a:t>Dead-tensor byte reuse via lifetime analysis</a:t>
            </a:r>
          </a:p>
          <a:p>
            <a:r>
              <a:rPr lang="en-US" dirty="0"/>
              <a:t>Zero runtime cost, large peak-SRAM reduction</a:t>
            </a:r>
          </a:p>
        </p:txBody>
      </p:sp>
    </p:spTree>
    <p:extLst>
      <p:ext uri="{BB962C8B-B14F-4D97-AF65-F5344CB8AC3E}">
        <p14:creationId xmlns:p14="http://schemas.microsoft.com/office/powerpoint/2010/main" val="2944892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12456528-0F72-3E18-2A2F-BD9644DEB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memory scheduling</a:t>
            </a:r>
            <a:br>
              <a:rPr lang="en-US" dirty="0"/>
            </a:br>
            <a:endParaRPr lang="en-US" dirty="0"/>
          </a:p>
        </p:txBody>
      </p:sp>
      <p:pic>
        <p:nvPicPr>
          <p:cNvPr id="8" name="Content Placeholder 7">
            <a:extLst>
              <a:ext uri="{FF2B5EF4-FFF2-40B4-BE49-F238E27FC236}">
                <a16:creationId xmlns:a16="http://schemas.microsoft.com/office/drawing/2014/main" id="{6513DC02-C9A5-4E3F-A1A2-704649F6046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463149" y="967472"/>
            <a:ext cx="4621317" cy="249801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7737A9AE-04CA-E467-A692-65C223BDD34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9160" y="2518398"/>
            <a:ext cx="7219094" cy="3793083"/>
          </a:xfrm>
          <a:prstGeom prst="rect">
            <a:avLst/>
          </a:prstGeom>
        </p:spPr>
      </p:pic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0F67EED0-6876-E746-FF33-10C664170A9C}"/>
              </a:ext>
            </a:extLst>
          </p:cNvPr>
          <p:cNvSpPr/>
          <p:nvPr/>
        </p:nvSpPr>
        <p:spPr>
          <a:xfrm>
            <a:off x="594360" y="1600200"/>
            <a:ext cx="2011680" cy="237744"/>
          </a:xfrm>
          <a:prstGeom prst="roundRect">
            <a:avLst/>
          </a:prstGeom>
          <a:noFill/>
          <a:ln>
            <a:solidFill>
              <a:schemeClr val="accent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13494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ED2A96-3109-ADF2-B5D4-BDC6B0F0D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In-place </a:t>
            </a:r>
            <a:r>
              <a:rPr lang="en-US" dirty="0" err="1"/>
              <a:t>depthwise</a:t>
            </a:r>
            <a:r>
              <a:rPr lang="en-US" dirty="0"/>
              <a:t> convolution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3D1A4A-0F5E-7D0D-C9DA-3697521C63EA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b="0" dirty="0" err="1"/>
              <a:t>Depthwise</a:t>
            </a:r>
            <a:r>
              <a:rPr lang="en-US" b="0" dirty="0"/>
              <a:t> conv whose output buffer </a:t>
            </a:r>
            <a:r>
              <a:rPr lang="en-US" b="0" i="1" dirty="0"/>
              <a:t>is</a:t>
            </a:r>
            <a:r>
              <a:rPr lang="en-US" b="0" dirty="0"/>
              <a:t> its input buffer</a:t>
            </a:r>
          </a:p>
          <a:p>
            <a:pPr lvl="1"/>
            <a:r>
              <a:rPr lang="en-US" b="0"/>
              <a:t>Input tensor is overwritten as the layer runs</a:t>
            </a:r>
          </a:p>
          <a:p>
            <a:r>
              <a:rPr lang="en-US" b="0"/>
              <a:t>No </a:t>
            </a:r>
            <a:r>
              <a:rPr lang="en-US" b="0" dirty="0"/>
              <a:t>extra compute, no accuracy change, just a different addressing pattern.</a:t>
            </a: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24DA5B-7FC0-8B1D-E5E7-FEE6E26363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4664" y="3102926"/>
            <a:ext cx="8460887" cy="3022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806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621A7D-22B7-48A4-9B36-378880A437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In-place </a:t>
            </a:r>
            <a:r>
              <a:rPr lang="en-US" dirty="0" err="1"/>
              <a:t>depthwise</a:t>
            </a:r>
            <a:r>
              <a:rPr lang="en-US" dirty="0"/>
              <a:t> convolution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4541CC-9423-43A2-0981-75CBC8F4C687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ABB5A3-E2AA-6392-3220-BB7204173C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779" y="2250463"/>
            <a:ext cx="11401392" cy="734933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BA99053E-A10C-CDEA-0A65-F92E29AE780F}"/>
              </a:ext>
            </a:extLst>
          </p:cNvPr>
          <p:cNvSpPr/>
          <p:nvPr/>
        </p:nvSpPr>
        <p:spPr>
          <a:xfrm>
            <a:off x="2997724" y="2450969"/>
            <a:ext cx="707010" cy="216817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60BDFB09-780F-ECC7-CFEF-AB09ED4E671C}"/>
              </a:ext>
            </a:extLst>
          </p:cNvPr>
          <p:cNvSpPr/>
          <p:nvPr/>
        </p:nvSpPr>
        <p:spPr>
          <a:xfrm>
            <a:off x="10050545" y="2461967"/>
            <a:ext cx="707010" cy="216817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7AFF1C39-A52E-AB23-E6AF-9BDBDA836501}"/>
              </a:ext>
            </a:extLst>
          </p:cNvPr>
          <p:cNvSpPr/>
          <p:nvPr/>
        </p:nvSpPr>
        <p:spPr>
          <a:xfrm>
            <a:off x="11123629" y="2461967"/>
            <a:ext cx="339365" cy="216817"/>
          </a:xfrm>
          <a:prstGeom prst="roundRect">
            <a:avLst/>
          </a:prstGeom>
          <a:noFill/>
          <a:ln>
            <a:solidFill>
              <a:schemeClr val="accent2">
                <a:lumMod val="75000"/>
              </a:schemeClr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E504649-8651-2DEB-5C80-75965F6083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1110" y="3264772"/>
            <a:ext cx="3679955" cy="2476339"/>
          </a:xfrm>
          <a:prstGeom prst="rect">
            <a:avLst/>
          </a:prstGeom>
        </p:spPr>
      </p:pic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9C31D974-77EA-BAA8-966B-E1D8BCB47640}"/>
              </a:ext>
            </a:extLst>
          </p:cNvPr>
          <p:cNvCxnSpPr/>
          <p:nvPr/>
        </p:nvCxnSpPr>
        <p:spPr>
          <a:xfrm flipV="1">
            <a:off x="8135332" y="2678784"/>
            <a:ext cx="2988297" cy="18241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00A72E03-3235-1388-C68A-B1F5EAD61B6C}"/>
              </a:ext>
            </a:extLst>
          </p:cNvPr>
          <p:cNvCxnSpPr/>
          <p:nvPr/>
        </p:nvCxnSpPr>
        <p:spPr>
          <a:xfrm flipH="1" flipV="1">
            <a:off x="3704734" y="2678784"/>
            <a:ext cx="2389678" cy="912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C25586AF-288D-DEED-6018-CBC6B926B9AA}"/>
              </a:ext>
            </a:extLst>
          </p:cNvPr>
          <p:cNvCxnSpPr/>
          <p:nvPr/>
        </p:nvCxnSpPr>
        <p:spPr>
          <a:xfrm flipV="1">
            <a:off x="6591087" y="2678784"/>
            <a:ext cx="3459458" cy="9120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7977107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C85CD-AC50-695E-4B2E-BDAC69721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In-place </a:t>
            </a:r>
            <a:r>
              <a:rPr lang="en-US" dirty="0" err="1"/>
              <a:t>depthwise</a:t>
            </a:r>
            <a:r>
              <a:rPr lang="en-US" dirty="0"/>
              <a:t> convolution</a:t>
            </a: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B4D3CF5-9AC0-5CFD-FCB3-8A7CF67CC1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0601" y="2241504"/>
            <a:ext cx="4534533" cy="397247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E4CD8EE-5FC1-92B5-B448-E7C0957421D2}"/>
              </a:ext>
            </a:extLst>
          </p:cNvPr>
          <p:cNvSpPr txBox="1"/>
          <p:nvPr/>
        </p:nvSpPr>
        <p:spPr>
          <a:xfrm>
            <a:off x="482622" y="1050354"/>
            <a:ext cx="797331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Each of the 18 </a:t>
            </a:r>
            <a:r>
              <a:rPr lang="en-US" dirty="0" err="1"/>
              <a:t>depthwise</a:t>
            </a:r>
            <a:r>
              <a:rPr lang="en-US" dirty="0"/>
              <a:t> kernels is specially written so in-place computation can be done without write-back hazards.</a:t>
            </a:r>
          </a:p>
        </p:txBody>
      </p:sp>
    </p:spTree>
    <p:extLst>
      <p:ext uri="{BB962C8B-B14F-4D97-AF65-F5344CB8AC3E}">
        <p14:creationId xmlns:p14="http://schemas.microsoft.com/office/powerpoint/2010/main" val="132160507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EF1408EB-F05D-C1EC-DAE7-5C695CF6FA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Latency Reduction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64F131C3-9091-2053-6CC7-2EBC1A0C52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NHWC and NCHW </a:t>
            </a:r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1DF18E8C-4FF0-F4B7-9676-D29A22FA7B02}"/>
              </a:ext>
            </a:extLst>
          </p:cNvPr>
          <p:cNvPicPr>
            <a:picLocks noGrp="1" noChangeAspect="1"/>
          </p:cNvPicPr>
          <p:nvPr>
            <p:ph sz="quarter" idx="15"/>
          </p:nvPr>
        </p:nvPicPr>
        <p:blipFill>
          <a:blip r:embed="rId2"/>
          <a:stretch>
            <a:fillRect/>
          </a:stretch>
        </p:blipFill>
        <p:spPr>
          <a:xfrm>
            <a:off x="1480312" y="3199105"/>
            <a:ext cx="8715248" cy="2826909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92A14C30-5C41-8F37-84EC-0637A34B159E}"/>
              </a:ext>
            </a:extLst>
          </p:cNvPr>
          <p:cNvSpPr txBox="1"/>
          <p:nvPr/>
        </p:nvSpPr>
        <p:spPr>
          <a:xfrm>
            <a:off x="355509" y="1396137"/>
            <a:ext cx="1109803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 NHWC for Point-wise Convolution</a:t>
            </a:r>
          </a:p>
          <a:p>
            <a:pPr marL="952343" lvl="1" indent="-342900">
              <a:buFont typeface="Arial" panose="020B0604020202020204" pitchFamily="34" charset="0"/>
              <a:buChar char="•"/>
            </a:pPr>
            <a:r>
              <a:rPr lang="en-US" dirty="0"/>
              <a:t>For each pixel, all channels are stored contiguously, then move to the next pixel.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Use NCHW for Depth-wise Convolution</a:t>
            </a:r>
          </a:p>
          <a:p>
            <a:pPr marL="952343" lvl="1" indent="-342900">
              <a:buFont typeface="Arial" panose="020B0604020202020204" pitchFamily="34" charset="0"/>
              <a:buChar char="•"/>
            </a:pPr>
            <a:r>
              <a:rPr lang="en-US" dirty="0"/>
              <a:t>Store all of channel 0's pixels, then all of channel 1's pixels, then channel 2's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311745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94592B-9ED8-CC7D-0733-A738B16B27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2BF2A10F-77E7-E43E-0ACB-638BA0C033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Latency Reduction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0E19AE1-AC2A-C736-AA20-982E483553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Loop optimization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DA8BD0D5-7EF8-658D-6E65-EC4AACBFAB2B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Loop reordering</a:t>
            </a:r>
          </a:p>
          <a:p>
            <a:pPr lvl="1"/>
            <a:r>
              <a:rPr lang="en-US" dirty="0"/>
              <a:t>Optimizes locality by reordering the sequence of loops. </a:t>
            </a:r>
          </a:p>
          <a:p>
            <a:r>
              <a:rPr lang="en-US" dirty="0"/>
              <a:t>Compile-time loop bounds</a:t>
            </a:r>
          </a:p>
          <a:p>
            <a:pPr lvl="1"/>
            <a:r>
              <a:rPr lang="en-US" dirty="0"/>
              <a:t>Loop count is a constant stored in a register. Helps skip runtime bounds checks </a:t>
            </a:r>
          </a:p>
          <a:p>
            <a:r>
              <a:rPr lang="en-US" dirty="0"/>
              <a:t>Loop unrolling</a:t>
            </a:r>
          </a:p>
          <a:p>
            <a:pPr lvl="1"/>
            <a:r>
              <a:rPr lang="en-US" dirty="0"/>
              <a:t>Reduces branching overhead at the expense of its binary size. </a:t>
            </a:r>
          </a:p>
        </p:txBody>
      </p:sp>
    </p:spTree>
    <p:extLst>
      <p:ext uri="{BB962C8B-B14F-4D97-AF65-F5344CB8AC3E}">
        <p14:creationId xmlns:p14="http://schemas.microsoft.com/office/powerpoint/2010/main" val="4743725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2DC331-4585-3402-F0A6-6B47FABE6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Latency Reduction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9BC627-2B1D-0D9D-A29E-CCEFF4E4FB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dirty="0"/>
              <a:t>Layer Fusion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BE90F74-21F6-BEC1-31DA-0BA19818847B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/>
          <a:lstStyle/>
          <a:p>
            <a:r>
              <a:rPr lang="en-US" dirty="0"/>
              <a:t>Conv + BN + Activation + </a:t>
            </a:r>
            <a:r>
              <a:rPr lang="en-US" dirty="0" err="1"/>
              <a:t>Requant</a:t>
            </a:r>
            <a:r>
              <a:rPr lang="en-US" b="0" dirty="0"/>
              <a:t> all baked into one call</a:t>
            </a:r>
          </a:p>
          <a:p>
            <a:r>
              <a:rPr lang="en-US" dirty="0"/>
              <a:t>BN is fused at compile time</a:t>
            </a:r>
          </a:p>
          <a:p>
            <a:r>
              <a:rPr lang="en-US" dirty="0" err="1"/>
              <a:t>Requant</a:t>
            </a:r>
            <a:r>
              <a:rPr lang="en-US" dirty="0"/>
              <a:t> + activation are fused into the inner loop of specialized kernel</a:t>
            </a:r>
            <a:endParaRPr lang="en-US" b="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74408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77CB4893-6E67-43F8-D066-54FD232824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Playbook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9A8B2500-2C58-F501-6CF4-F2D05D78F7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9873" y="989632"/>
            <a:ext cx="3426575" cy="51398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66785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4497CE-5F1D-32D4-04FA-F10FC78293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Possibilities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6FA6BF-A480-5BC0-E587-4F702AEF168C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/>
          <a:lstStyle/>
          <a:p>
            <a:r>
              <a:rPr lang="en-US" dirty="0"/>
              <a:t>On-Device Training</a:t>
            </a:r>
          </a:p>
          <a:p>
            <a:r>
              <a:rPr lang="en-US" dirty="0"/>
              <a:t>Object Detection</a:t>
            </a:r>
          </a:p>
          <a:p>
            <a:r>
              <a:rPr lang="en-US" dirty="0"/>
              <a:t>Temporal Shift Modules for complex gesture control</a:t>
            </a:r>
          </a:p>
        </p:txBody>
      </p:sp>
    </p:spTree>
    <p:extLst>
      <p:ext uri="{BB962C8B-B14F-4D97-AF65-F5344CB8AC3E}">
        <p14:creationId xmlns:p14="http://schemas.microsoft.com/office/powerpoint/2010/main" val="29864923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B30727-F561-C96B-84D9-A8EFDE32DC69}"/>
              </a:ext>
            </a:extLst>
          </p:cNvPr>
          <p:cNvSpPr txBox="1"/>
          <p:nvPr/>
        </p:nvSpPr>
        <p:spPr>
          <a:xfrm>
            <a:off x="3410606" y="2034289"/>
            <a:ext cx="7909168" cy="1591386"/>
          </a:xfrm>
          <a:prstGeom prst="rect">
            <a:avLst/>
          </a:prstGeom>
        </p:spPr>
        <p:txBody>
          <a:bodyPr vert="horz" lIns="121888" tIns="60944" rIns="121888" bIns="60944" rtlCol="0" anchor="b" anchorCtr="0">
            <a:normAutofit/>
          </a:bodyPr>
          <a:lstStyle/>
          <a:p>
            <a:pPr algn="r">
              <a:spcBef>
                <a:spcPct val="0"/>
              </a:spcBef>
              <a:spcAft>
                <a:spcPts val="600"/>
              </a:spcAft>
            </a:pPr>
            <a:r>
              <a:rPr lang="en-US" sz="5300" b="1" kern="1200" cap="none" normalizeH="0" baseline="0">
                <a:solidFill>
                  <a:srgbClr val="0E3689"/>
                </a:solidFill>
                <a:latin typeface="+mj-lt"/>
                <a:ea typeface="+mj-ea"/>
                <a:cs typeface="+mj-cs"/>
              </a:rPr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17522355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03122020a">
      <a:dk1>
        <a:srgbClr val="0A0B0F"/>
      </a:dk1>
      <a:lt1>
        <a:srgbClr val="FFFFFF"/>
      </a:lt1>
      <a:dk2>
        <a:srgbClr val="FFFFFF"/>
      </a:dk2>
      <a:lt2>
        <a:srgbClr val="1D9CE5"/>
      </a:lt2>
      <a:accent1>
        <a:srgbClr val="0E3689"/>
      </a:accent1>
      <a:accent2>
        <a:srgbClr val="FD7F20"/>
      </a:accent2>
      <a:accent3>
        <a:srgbClr val="1D9CE4"/>
      </a:accent3>
      <a:accent4>
        <a:srgbClr val="5EBF33"/>
      </a:accent4>
      <a:accent5>
        <a:srgbClr val="702076"/>
      </a:accent5>
      <a:accent6>
        <a:srgbClr val="FFD53A"/>
      </a:accent6>
      <a:hlink>
        <a:srgbClr val="45A8C4"/>
      </a:hlink>
      <a:folHlink>
        <a:srgbClr val="45A8C4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3">
            <a:lumMod val="60000"/>
            <a:lumOff val="40000"/>
          </a:schemeClr>
        </a:solidFill>
        <a:ln>
          <a:noFill/>
        </a:ln>
        <a:effectLst/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>
        <a:effectLst/>
      </a:spPr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MCHP-Corporate PowerPointTemplate-16x9-2020.pptx" id="{4E21FF55-8B5E-487B-A0A8-561785F08682}" vid="{8700C8ED-64FF-495B-AED4-67DDCB9B3FD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968814BFAA96E48BFDC627E46305AD2" ma:contentTypeVersion="18" ma:contentTypeDescription="Create a new document." ma:contentTypeScope="" ma:versionID="344a5922cffde2185176239dfdbb57ba">
  <xsd:schema xmlns:xsd="http://www.w3.org/2001/XMLSchema" xmlns:xs="http://www.w3.org/2001/XMLSchema" xmlns:p="http://schemas.microsoft.com/office/2006/metadata/properties" xmlns:ns3="8aa051cd-a0ed-40c4-bcb0-da5d33bb1b41" xmlns:ns4="91b0e7f7-6663-43a4-9c10-46fda1679962" targetNamespace="http://schemas.microsoft.com/office/2006/metadata/properties" ma:root="true" ma:fieldsID="8e11a1a045261f787a35c19e096be1ec" ns3:_="" ns4:_="">
    <xsd:import namespace="8aa051cd-a0ed-40c4-bcb0-da5d33bb1b41"/>
    <xsd:import namespace="91b0e7f7-6663-43a4-9c10-46fda1679962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MediaServiceDateTaken" minOccurs="0"/>
                <xsd:element ref="ns3:MediaServiceAutoKeyPoints" minOccurs="0"/>
                <xsd:element ref="ns3:MediaServiceKeyPoints" minOccurs="0"/>
                <xsd:element ref="ns3:MediaServiceLocation" minOccurs="0"/>
                <xsd:element ref="ns3:MediaLengthInSeconds" minOccurs="0"/>
                <xsd:element ref="ns3:_activity" minOccurs="0"/>
                <xsd:element ref="ns3:MediaServiceObjectDetectorVersions" minOccurs="0"/>
                <xsd:element ref="ns3:MediaServiceSystemTag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a051cd-a0ed-40c4-bcb0-da5d33bb1b4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3" nillable="true" ma:displayName="Tags" ma:internalName="MediaServiceAutoTags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7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ternalName="MediaServiceLocation" ma:readOnly="true">
      <xsd:simpleType>
        <xsd:restriction base="dms:Text"/>
      </xsd:simpleType>
    </xsd:element>
    <xsd:element name="MediaLengthInSeconds" ma:index="21" nillable="true" ma:displayName="Length (seconds)" ma:internalName="MediaLengthInSeconds" ma:readOnly="true">
      <xsd:simpleType>
        <xsd:restriction base="dms:Unknown"/>
      </xsd:simpleType>
    </xsd:element>
    <xsd:element name="_activity" ma:index="22" nillable="true" ma:displayName="_activity" ma:hidden="true" ma:internalName="_activity">
      <xsd:simpleType>
        <xsd:restriction base="dms:Note"/>
      </xsd:simpleType>
    </xsd:element>
    <xsd:element name="MediaServiceObjectDetectorVersions" ma:index="23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24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b0e7f7-6663-43a4-9c10-46fda167996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8aa051cd-a0ed-40c4-bcb0-da5d33bb1b41" xsi:nil="true"/>
  </documentManagement>
</p:properties>
</file>

<file path=customXml/itemProps1.xml><?xml version="1.0" encoding="utf-8"?>
<ds:datastoreItem xmlns:ds="http://schemas.openxmlformats.org/officeDocument/2006/customXml" ds:itemID="{F6DC5CA3-5CED-4381-9852-6B08AFB18D4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aa051cd-a0ed-40c4-bcb0-da5d33bb1b41"/>
    <ds:schemaRef ds:uri="91b0e7f7-6663-43a4-9c10-46fda167996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CE24DD7-9317-4AD8-82D4-5A6998DA79C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5774815-801A-4D0C-AAC8-304A8EA5EAE0}">
  <ds:schemaRefs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schemas.microsoft.com/office/2006/documentManagement/types"/>
    <ds:schemaRef ds:uri="http://purl.org/dc/dcmitype/"/>
    <ds:schemaRef ds:uri="http://schemas.openxmlformats.org/package/2006/metadata/core-properties"/>
    <ds:schemaRef ds:uri="8aa051cd-a0ed-40c4-bcb0-da5d33bb1b41"/>
    <ds:schemaRef ds:uri="91b0e7f7-6663-43a4-9c10-46fda1679962"/>
    <ds:schemaRef ds:uri="http://www.w3.org/XML/1998/namespace"/>
    <ds:schemaRef ds:uri="http://purl.org/dc/terms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MCHP-Corporate PowerPointTemplate-16x9-2020</Template>
  <TotalTime>649</TotalTime>
  <Words>545</Words>
  <Application>Microsoft Office PowerPoint</Application>
  <PresentationFormat>Custom</PresentationFormat>
  <Paragraphs>94</Paragraphs>
  <Slides>20</Slides>
  <Notes>3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Calibri Light</vt:lpstr>
      <vt:lpstr>Office Theme</vt:lpstr>
      <vt:lpstr>MCUNet Tiny Deep Learning on MCUs</vt:lpstr>
      <vt:lpstr>Agenda</vt:lpstr>
      <vt:lpstr>The Promise </vt:lpstr>
      <vt:lpstr>PowerPoint Presentation</vt:lpstr>
      <vt:lpstr>The Process</vt:lpstr>
      <vt:lpstr>The Process</vt:lpstr>
      <vt:lpstr>Peak SRAM Reduction</vt:lpstr>
      <vt:lpstr>Patch-based inference </vt:lpstr>
      <vt:lpstr>Patch-based inference </vt:lpstr>
      <vt:lpstr>Global memory scheduling </vt:lpstr>
      <vt:lpstr>Global memory scheduling </vt:lpstr>
      <vt:lpstr>In-place depthwise convolution </vt:lpstr>
      <vt:lpstr>In-place depthwise convolution </vt:lpstr>
      <vt:lpstr>In-place depthwise convolution </vt:lpstr>
      <vt:lpstr>Latency Reduction</vt:lpstr>
      <vt:lpstr>Latency Reduction</vt:lpstr>
      <vt:lpstr>Latency Reduction</vt:lpstr>
      <vt:lpstr>The Playbook</vt:lpstr>
      <vt:lpstr>The Possibilities </vt:lpstr>
      <vt:lpstr>PowerPoint Presentation</vt:lpstr>
    </vt:vector>
  </TitlesOfParts>
  <Company>Microchip Technology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Enoch Richbert Jebakumar - I41645</dc:creator>
  <cp:lastModifiedBy>Enoch Richbert Jebakumar - I41645</cp:lastModifiedBy>
  <cp:revision>13</cp:revision>
  <dcterms:created xsi:type="dcterms:W3CDTF">2026-06-23T03:06:42Z</dcterms:created>
  <dcterms:modified xsi:type="dcterms:W3CDTF">2026-06-23T13:56:23Z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dlc_DocIdItemGuid">
    <vt:lpwstr>4f4c189b-5c64-41bd-876c-24ddcd47a73a</vt:lpwstr>
  </property>
  <property fmtid="{D5CDD505-2E9C-101B-9397-08002B2CF9AE}" pid="3" name="ContentTypeId">
    <vt:lpwstr>0x0101005968814BFAA96E48BFDC627E46305AD2</vt:lpwstr>
  </property>
</Properties>
</file>