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F3F4F6"/>
                </a:solidFill>
                <a:latin typeface="Arial"/>
              </a:defRPr>
            </a:pPr>
            <a:r>
              <a:t>TinyEngine: High-Performance Inference for Resource-Constrained MCUs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F3F4F6"/>
                </a:solidFill>
                <a:latin typeface="Arial"/>
              </a:defRPr>
            </a:pPr>
            <a:r>
              <a:t>•  From TFLM Runtime to System–Algorithm Co-Design</a:t>
            </a:r>
          </a:p>
          <a:p>
            <a:pPr>
              <a:spcAft>
                <a:spcPts val="1600"/>
              </a:spcAft>
              <a:defRPr sz="1800">
                <a:solidFill>
                  <a:srgbClr val="F3F4F6"/>
                </a:solidFill>
                <a:latin typeface="Arial"/>
              </a:defRPr>
            </a:pPr>
            <a:r>
              <a:t>•  Presenter: Embedded-ML Staff Engineer</a:t>
            </a:r>
          </a:p>
          <a:p>
            <a:pPr>
              <a:spcAft>
                <a:spcPts val="1600"/>
              </a:spcAft>
              <a:defRPr sz="1800">
                <a:solidFill>
                  <a:srgbClr val="F3F4F6"/>
                </a:solidFill>
                <a:latin typeface="Arial"/>
              </a:defRPr>
            </a:pPr>
            <a:r>
              <a:t>•  Target: Engineers already shipping with TFLM</a:t>
            </a:r>
          </a:p>
          <a:p>
            <a:pPr>
              <a:spcAft>
                <a:spcPts val="1600"/>
              </a:spcAft>
              <a:defRPr sz="1800">
                <a:solidFill>
                  <a:srgbClr val="F3F4F6"/>
                </a:solidFill>
                <a:latin typeface="Arial"/>
              </a:defRPr>
            </a:pPr>
            <a:r>
              <a:t>•  Focus: Generated code vs. interpreted graphs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The MCU Envelope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SRAM: 128 KB – 1 MB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Flash: 512 KB – 4 MB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Cortex-M4/M7: 100 – 600 MHz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Power: Single-digit mW budgets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SRAM is the binding constraint for vision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Why Activations Break the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Weights live in Flash (cheap/abundant)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Activations live in SRAM (scarce/expensive)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Example: 160x160x16 int8 feature map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160 * 160 * 16 = 409,600 bytes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Fails on a 256 KB SRAM part immediately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TFLM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Model (.tflite) -&gt; MicroInterpreter &lt;--- AllOpsResolver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Tensor Arena (Greedy Workspace) -&gt; CMSIS-NN / Kernels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Portable and generic architecture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Single binary covers many models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Flexible deployment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Where TFLM Leaves Performance on the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Per-invocation operator dispatch overhead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Greedy arena allocator lacks future visibility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Generic kernels branch on shape/stride at runtime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Interpreter and resolver tables consume Flash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Trade-off: Flexibility vs. Efficiency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MCUNet in One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Automated Search + Specialized Runtime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TinyNAS finds the network architecture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TinyEngine executes that specific architecture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Co-design loop prevents un-deployable models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Code-generation, Not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Ingests Quantized TFLite and emits straight-line C code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No interpreter, no resolver machinery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No FlatBuffer parsing at runtime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The "engine" is the generator script; what runs on target is pure 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Codegen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TFLite Model -&gt; [Graph Analyzer] --- Lifetime Birth/Death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[Memory Scheduler] - Buffer Packing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[Op Generator] ----- Specialized C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Output: Emitted C + Weights + Headers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What the Graph Analyzer Sees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Exact tensor shapes and types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Precise birth/death op indices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Inter-op dependency chains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Full-graph visibility vs. TFLM's greedy/local 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What the Operator Generator Emits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Specific kernel implementation per layer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Example: depthwise_kernel3x3_stride1_inplace.c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Compile-time specialization eliminates runtime parameter branching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Constants are inlined directly into the kernel source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Side-by-Side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TFLM: Model -&gt; Interpreter -&gt; Op Resolver -&gt; Generic Kernels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TinyEngine: Model -&gt; Generated invoke() -&gt; Specialized Kernels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Eliminates runtime dispatch layers entirely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What This Buys and Costs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Buys: Lower latency, smaller SRAM, cross-op optimization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Buys: Smaller Flash for the "runtime" logic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Costs: Re-codegen/re-flash required to change models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Costs: No dynamic model loading at runtime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A deliberate trade for absolute performance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Global Memory Scheduling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Uses full-graph lifetime knowledge to pack activations like registers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Tensors with non-overlapping lifetimes share physical storage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50–70% peak-SRAM reduction vs. TFLM on identical graphs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T1: [=====] | T2: [===] | T3: [=====] (T1 and T3 reuse buffer)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In-place Depthwise Convolution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DW 3x3 Stride 1 calculations are locally bounded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Reads small neighborhood and writes back to input buffer directly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Saves one full activation tensor per layer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Crucial for MobileNet-class networks (_inplace_CHW_fpreq.c)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Patch-based 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Breaks large inputs into spatial patches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Runs patch through several layers top-to-bottom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Only materializes small patch activations at any one time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Enables 320x320 inputs on small MCUs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Trade-off: Slight recomputation at patch boundaries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Layer 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Conv + BN + ReLU + Add collapsed into a single kernel pass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Minimizes intermediate memory traffic to SRAM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Fuses pre-quantization sequence that compiler constant-folds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Improves instruction cache footprint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Static Scheduling and Specialized Kernels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No virtual dispatch or runtime function pointers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Compiler sees concrete loop bounds for optimized unrolling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Zero runtime shape or stride checks in the execution loop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Cleanly optimized for CMSIS-NN primitives at compile time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Quantization Plumbing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int8 weights with per-channel scales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int8 activations with per-tensor scales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Fixed-point requantization (_fpreq) natively handled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Constants are inlined at codegen time, eliminating table lookups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A 4-layer Toy Graph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Conv1(T1) -&gt; DWConv2(T2) -&gt; PWConv3(T3) -&gt; Conv4(T4)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T1 size: 32 KB, Born L1, Dies L2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T2 size: 32 KB, Born L2, Dies L3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T3 size: 16 KB, Born L3, Dies L4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T4 size: 8 KB, Born L4, Dies end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Greedy vs. Global Allocation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Greedy Max Live: T1 + T2 = 64 KB total allocation required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Global Allocation: Reuses T1's storage slot for T3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Peak SRAM drops from 64 KB down to 40 KB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37% memory saving on toy example without accuracy loss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What the Generator Drops on Disk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genModel.h: Defines PEAK_MEM, MODEL_SIZE, weight declarations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genModel.c: invoke() sequence containing straight-line layer calls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weights.c: const int8_t arrays placed cleanly in flash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Specialized kernel files: convolve_*.c, depthwise_*.c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invoke() 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void invoke(void) { layer1_conv2d(); layer2_dw_inplace(); ... }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No loops, dispatch tables, or string lookups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Fully unrolled execution graph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Enables superior static analysis / WCET behavior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Mapping Layers to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Weights -&gt; Flash (.rodata / external QSPI if required)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Activations -&gt; SRAM / DTCM for optimal throughput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Input/Output buffers mapped to reuse activation arena boundaries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DTCM placement provides massive latency wins on Cortex-M7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End-to-end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Train (PyTorch/TF) -&gt; Post-Training Quantization -&gt; .tflite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TinyEngine Codegen converts TFLite to localized C sources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Embedded Toolchain compiles C sources natively to Flash target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Divergence happens entirely at the runtime boundary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What You Actually Link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Generated genModel.c and weights.c files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Only the kernel subset explicitly required by your network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CMSIS-Core / CMSIS-DSP foundational layers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Zero bloated library overhead or generic unreferenced fallback ops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Application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Main execution loop: acquire_frame() -&gt; invoke() -&gt; consume_logits()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Fully compatible with bare-metal, FreeRTOS, or Zephyr RTOS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invoke() is a simple, predictable synchronous function call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Zero dynamic heap requirements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F3F4F6"/>
                </a:solidFill>
                <a:latin typeface="Arial"/>
              </a:defRPr>
            </a:pPr>
            <a:r>
              <a:t>TFLM vs. TinyEngine, Head-to-Head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F3F4F6"/>
                </a:solidFill>
                <a:latin typeface="Arial"/>
              </a:defRPr>
            </a:pPr>
            <a:r>
              <a:t>•  Runtime: Interpreter (TFLM) vs. Generated C (TinyEngine)</a:t>
            </a:r>
          </a:p>
          <a:p>
            <a:pPr>
              <a:spcAft>
                <a:spcPts val="1600"/>
              </a:spcAft>
              <a:defRPr sz="1800">
                <a:solidFill>
                  <a:srgbClr val="F3F4F6"/>
                </a:solidFill>
                <a:latin typeface="Arial"/>
              </a:defRPr>
            </a:pPr>
            <a:r>
              <a:t>•  Memory: Greedy local allocation vs. Global full-graph scheduling</a:t>
            </a:r>
          </a:p>
          <a:p>
            <a:pPr>
              <a:spcAft>
                <a:spcPts val="1600"/>
              </a:spcAft>
              <a:defRPr sz="1800">
                <a:solidFill>
                  <a:srgbClr val="F3F4F6"/>
                </a:solidFill>
                <a:latin typeface="Arial"/>
              </a:defRPr>
            </a:pPr>
            <a:r>
              <a:t>•  Optimizations: Basic vs. In-place DWConv + Patch-based inference</a:t>
            </a:r>
          </a:p>
          <a:p>
            <a:pPr>
              <a:spcAft>
                <a:spcPts val="1600"/>
              </a:spcAft>
              <a:defRPr sz="1800">
                <a:solidFill>
                  <a:srgbClr val="F3F4F6"/>
                </a:solidFill>
                <a:latin typeface="Arial"/>
              </a:defRPr>
            </a:pPr>
            <a:r>
              <a:t>•  Tradeoff: Broad op coverage vs. Absolute minimal memory footprint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Case Study: VWW0 on PIC32CZ-CA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Hardware: Microchip PIC32CZ-CA (Cortex-M7) + OV7670 Camera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Model: MCUNet-VWW0 (Person / No-Person binary classifier)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Input Profile: 64x64x3 int8 quantized stream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Structure: 51 layers containing 18 in-place depthwise variants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Results: VWW0 + TinyEngine Production Gains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Peak SRAM Activations: Dropped from 257,448 B down to 60,800 B (-76%)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Flash Weights: Increased from 190,864 B to 399,656 B (+109%)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Inference Latency: Accelerated from ~330 ms down to &lt;70 ms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Successfully traded abundant Flash to resolve binding SRAM constraints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Honest Tradeoffs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Significantly narrower operator coverage compared to TFLM ecosystem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Exotic or non-MCUNet topologies may fail code generation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Model updates require complete re-codegen and firmware re-flash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Debugging abstract generated kernel variations increases complexity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Future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MCUNetV2: Refined patch-based execution and receptive field sharing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MCUNetV3: On-device ultra-tiny training capabilities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Sparse updating and localized quantized backpropagation on MCU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•  Shift toward pure compilation-based edge runtimes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F3F4F6"/>
                </a:solidFill>
                <a:latin typeface="Arial"/>
              </a:defRPr>
            </a:pPr>
            <a:r>
              <a:t>•  TinyEngine is a code generator, not a generic runtime interpreter</a:t>
            </a:r>
          </a:p>
          <a:p>
            <a:pPr>
              <a:spcAft>
                <a:spcPts val="1600"/>
              </a:spcAft>
              <a:defRPr sz="1800">
                <a:solidFill>
                  <a:srgbClr val="F3F4F6"/>
                </a:solidFill>
                <a:latin typeface="Arial"/>
              </a:defRPr>
            </a:pPr>
            <a:r>
              <a:t>•  Global memory scheduling delivers the largest share of the SRAM win</a:t>
            </a:r>
          </a:p>
          <a:p>
            <a:pPr>
              <a:spcAft>
                <a:spcPts val="1600"/>
              </a:spcAft>
              <a:defRPr sz="1800">
                <a:solidFill>
                  <a:srgbClr val="F3F4F6"/>
                </a:solidFill>
                <a:latin typeface="Arial"/>
              </a:defRPr>
            </a:pPr>
            <a:r>
              <a:t>•  In-place DWConv and layer fusion optimize MobileNet structures</a:t>
            </a:r>
          </a:p>
          <a:p>
            <a:pPr>
              <a:spcAft>
                <a:spcPts val="1600"/>
              </a:spcAft>
              <a:defRPr sz="1800">
                <a:solidFill>
                  <a:srgbClr val="F3F4F6"/>
                </a:solidFill>
                <a:latin typeface="Arial"/>
              </a:defRPr>
            </a:pPr>
            <a:r>
              <a:t>•  Patch-based inference opens the door for high-resolution edge vision</a:t>
            </a:r>
          </a:p>
          <a:p>
            <a:pPr>
              <a:spcAft>
                <a:spcPts val="1600"/>
              </a:spcAft>
              <a:defRPr sz="1800">
                <a:solidFill>
                  <a:srgbClr val="F3F4F6"/>
                </a:solidFill>
                <a:latin typeface="Arial"/>
              </a:defRPr>
            </a:pPr>
            <a:r>
              <a:t>•  Integration is a lightweight drop-in replacement for the TFLM layer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F3F4F6"/>
                </a:solidFill>
                <a:latin typeface="Arial"/>
              </a:defRPr>
            </a:pPr>
            <a:r>
              <a:t>•  Operator coverage &amp; fallback patterns</a:t>
            </a:r>
          </a:p>
          <a:p>
            <a:pPr>
              <a:spcAft>
                <a:spcPts val="1600"/>
              </a:spcAft>
              <a:defRPr sz="1800">
                <a:solidFill>
                  <a:srgbClr val="F3F4F6"/>
                </a:solidFill>
                <a:latin typeface="Arial"/>
              </a:defRPr>
            </a:pPr>
            <a:r>
              <a:t>•  Model-swap workflow alternatives</a:t>
            </a:r>
          </a:p>
          <a:p>
            <a:pPr>
              <a:spcAft>
                <a:spcPts val="1600"/>
              </a:spcAft>
              <a:defRPr sz="1800">
                <a:solidFill>
                  <a:srgbClr val="F3F4F6"/>
                </a:solidFill>
                <a:latin typeface="Arial"/>
              </a:defRPr>
            </a:pPr>
            <a:r>
              <a:t>•  Debugging generated straight-line code blocks</a:t>
            </a:r>
          </a:p>
          <a:p>
            <a:pPr>
              <a:spcAft>
                <a:spcPts val="1600"/>
              </a:spcAft>
              <a:defRPr sz="1800">
                <a:solidFill>
                  <a:srgbClr val="F3F4F6"/>
                </a:solidFill>
                <a:latin typeface="Arial"/>
              </a:defRPr>
            </a:pPr>
            <a:r>
              <a:t>•  Comparisons to ONNX Runtime / Glow / ExecuTorch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